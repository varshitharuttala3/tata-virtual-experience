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3" r:id="rId4"/>
    <p:sldId id="264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77" d="100"/>
          <a:sy n="77" d="100"/>
        </p:scale>
        <p:origin x="58" y="48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A9257A84-F37F-4A25-F76D-6C81C24E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>
            <a:extLst>
              <a:ext uri="{FF2B5EF4-FFF2-40B4-BE49-F238E27FC236}">
                <a16:creationId xmlns:a16="http://schemas.microsoft.com/office/drawing/2014/main" id="{235D2027-7DEC-5D0C-B19D-E8C25608E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>
            <a:extLst>
              <a:ext uri="{FF2B5EF4-FFF2-40B4-BE49-F238E27FC236}">
                <a16:creationId xmlns:a16="http://schemas.microsoft.com/office/drawing/2014/main" id="{711E71EA-BCD1-E442-AA11-5655612C7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  <p:extLst>
      <p:ext uri="{BB962C8B-B14F-4D97-AF65-F5344CB8AC3E}">
        <p14:creationId xmlns:p14="http://schemas.microsoft.com/office/powerpoint/2010/main" val="1980218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1. Data Inputs</a:t>
            </a:r>
            <a:endParaRPr lang="en-US" sz="1600" dirty="0"/>
          </a:p>
          <a:p>
            <a:r>
              <a:rPr lang="en-US" sz="1600" dirty="0"/>
              <a:t>Customer payment history</a:t>
            </a:r>
          </a:p>
          <a:p>
            <a:r>
              <a:rPr lang="en-US" sz="1600" dirty="0"/>
              <a:t>Account balance and delinquency status</a:t>
            </a:r>
          </a:p>
          <a:p>
            <a:r>
              <a:rPr lang="en-US" sz="1600" dirty="0"/>
              <a:t>Past response to collections (emails, calls, payment plans)</a:t>
            </a:r>
          </a:p>
          <a:p>
            <a:r>
              <a:rPr lang="en-US" sz="1600" dirty="0"/>
              <a:t>Basic demographic and account data</a:t>
            </a:r>
          </a:p>
          <a:p>
            <a:pPr marL="114300" indent="0">
              <a:buNone/>
            </a:pPr>
            <a:r>
              <a:rPr lang="en-US" sz="1600" b="1" dirty="0"/>
              <a:t>2. Decision Logic</a:t>
            </a:r>
            <a:endParaRPr lang="en-US" sz="1600" dirty="0"/>
          </a:p>
          <a:p>
            <a:r>
              <a:rPr lang="en-US" sz="1600" dirty="0"/>
              <a:t>AI model predicts likelihood of repayment</a:t>
            </a:r>
          </a:p>
          <a:p>
            <a:r>
              <a:rPr lang="en-US" sz="1600" dirty="0"/>
              <a:t>Customers are segmented by risk (low, medium, high)</a:t>
            </a:r>
          </a:p>
          <a:p>
            <a:r>
              <a:rPr lang="en-US" sz="1600" dirty="0"/>
              <a:t>Best intervention is selected (reminder, payment plan, human agent)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7E71B54F-FD5D-83ED-E492-880C6F3D9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174C6D9E-3725-FC20-7516-B6AF18BFDE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" dirty="0"/>
              <a:t>How the System Works</a:t>
            </a:r>
            <a:endParaRPr dirty="0"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4D42E29C-6DE4-AF11-E384-DA6F80135E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ui-sans-serif"/>
              </a:rPr>
              <a:t>3. Actions</a:t>
            </a:r>
            <a:endParaRPr lang="en-US" sz="1600" dirty="0">
              <a:solidFill>
                <a:srgbClr val="FFFFFF"/>
              </a:solidFill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ui-sans-serif"/>
              </a:rPr>
              <a:t>Automated reminders (SMS, email)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ui-sans-serif"/>
              </a:rPr>
              <a:t>Personalized payment plans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ui-sans-serif"/>
              </a:rPr>
              <a:t>Escalation to human agents for high-risk or sensitive cases</a:t>
            </a:r>
          </a:p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ui-sans-serif"/>
              </a:rPr>
              <a:t>4. Learning Loop</a:t>
            </a:r>
            <a:endParaRPr lang="en-US" sz="1600" dirty="0">
              <a:solidFill>
                <a:srgbClr val="FFFFFF"/>
              </a:solidFill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ui-sans-serif"/>
              </a:rPr>
              <a:t>System tracks customer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ui-sans-serif"/>
              </a:rPr>
              <a:t>Model updates predictions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ui-sans-serif"/>
              </a:rPr>
              <a:t>Strategies improve continuously based on outcomes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421808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EB54-6947-66DF-DD6F-38917CD4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Role of Agentic AI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7D8A3-AA96-4149-01AF-BC38728F0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E96B74-BEF8-2608-58E5-63FE70F27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80334"/>
              </p:ext>
            </p:extLst>
          </p:nvPr>
        </p:nvGraphicFramePr>
        <p:xfrm>
          <a:off x="1524000" y="1489824"/>
          <a:ext cx="6096000" cy="3078900"/>
        </p:xfrm>
        <a:graphic>
          <a:graphicData uri="http://schemas.openxmlformats.org/drawingml/2006/table">
            <a:tbl>
              <a:tblPr firstRow="1" bandRow="1">
                <a:tableStyleId>{2E584E98-F22C-4E6F-8C55-6CFEC2229C57}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81135141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95161402"/>
                    </a:ext>
                  </a:extLst>
                </a:gridCol>
              </a:tblGrid>
              <a:tr h="615780">
                <a:tc>
                  <a:txBody>
                    <a:bodyPr/>
                    <a:lstStyle/>
                    <a:p>
                      <a:r>
                        <a:rPr lang="en-IN" dirty="0">
                          <a:highlight>
                            <a:srgbClr val="C0C0C0"/>
                          </a:highlight>
                        </a:rPr>
                        <a:t>Autonomous (AI-led)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highlight>
                            <a:srgbClr val="C0C0C0"/>
                          </a:highlight>
                        </a:rPr>
                        <a:t>Human Oversight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3467"/>
                  </a:ext>
                </a:extLst>
              </a:tr>
              <a:tr h="615780">
                <a:tc>
                  <a:txBody>
                    <a:bodyPr/>
                    <a:lstStyle/>
                    <a:p>
                      <a:r>
                        <a:rPr lang="en-US" dirty="0"/>
                        <a:t>Risk scoring and customer segmentation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Reviewing disputed or sensitive cases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744014"/>
                  </a:ext>
                </a:extLst>
              </a:tr>
              <a:tr h="615780">
                <a:tc>
                  <a:txBody>
                    <a:bodyPr/>
                    <a:lstStyle/>
                    <a:p>
                      <a:r>
                        <a:rPr lang="en-US" dirty="0"/>
                        <a:t>Selecting communication channel and timing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Approving policy changes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70738"/>
                  </a:ext>
                </a:extLst>
              </a:tr>
              <a:tr h="615780">
                <a:tc>
                  <a:txBody>
                    <a:bodyPr/>
                    <a:lstStyle/>
                    <a:p>
                      <a:r>
                        <a:rPr lang="en-US" dirty="0"/>
                        <a:t>Sending reminders and payment nudges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Handling customer complaints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004270"/>
                  </a:ext>
                </a:extLst>
              </a:tr>
              <a:tr h="615780">
                <a:tc>
                  <a:txBody>
                    <a:bodyPr/>
                    <a:lstStyle/>
                    <a:p>
                      <a:r>
                        <a:rPr lang="en-IN" dirty="0"/>
                        <a:t>Monitoring repayment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Auditing fairness and compliance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576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62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75D2E6-25F7-807C-4771-4A66B955C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3359" y="1514385"/>
            <a:ext cx="84721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Regular bias testing to ensure no unfair treatment of protected groups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 explanations for why actions are taken on an account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Alignment with data protection and financial regulations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Human-in-the-loop: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Humans can override AI decisions when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Business KPIs</a:t>
            </a:r>
            <a:endParaRPr lang="en-US" sz="1600" dirty="0"/>
          </a:p>
          <a:p>
            <a:r>
              <a:rPr lang="en-US" sz="1600" dirty="0"/>
              <a:t>Reduced delinquency rates</a:t>
            </a:r>
          </a:p>
          <a:p>
            <a:r>
              <a:rPr lang="en-US" sz="1600" dirty="0"/>
              <a:t>Higher recovery rates</a:t>
            </a:r>
          </a:p>
          <a:p>
            <a:r>
              <a:rPr lang="en-US" sz="1600" dirty="0"/>
              <a:t>Lower operational costs</a:t>
            </a:r>
          </a:p>
          <a:p>
            <a:r>
              <a:rPr lang="en-US" sz="1600" dirty="0"/>
              <a:t>Improved scalability of collections operations</a:t>
            </a:r>
          </a:p>
          <a:p>
            <a:pPr marL="114300" indent="0">
              <a:buNone/>
            </a:pPr>
            <a:r>
              <a:rPr lang="en-US" sz="1600" b="1" dirty="0"/>
              <a:t>Customer Outcomes</a:t>
            </a:r>
            <a:endParaRPr lang="en-US" sz="1600" dirty="0"/>
          </a:p>
          <a:p>
            <a:r>
              <a:rPr lang="en-US" sz="1600" dirty="0"/>
              <a:t>More personalized and respectful interactions</a:t>
            </a:r>
          </a:p>
          <a:p>
            <a:r>
              <a:rPr lang="en-US" sz="1600" dirty="0"/>
              <a:t>Fairer treatment across customer segments</a:t>
            </a:r>
          </a:p>
          <a:p>
            <a:r>
              <a:rPr lang="en-US" sz="1600" dirty="0"/>
              <a:t>Increased trust and transparency</a:t>
            </a:r>
          </a:p>
          <a:p>
            <a:r>
              <a:rPr lang="en-US" sz="1600" dirty="0"/>
              <a:t>Better overall customer </a:t>
            </a:r>
            <a:r>
              <a:rPr lang="en-US" sz="1600" dirty="0" err="1"/>
              <a:t>experien</a:t>
            </a:r>
            <a:endParaRPr lang="en-US" sz="1600" dirty="0"/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00" y="198783"/>
            <a:ext cx="8368200" cy="945342"/>
          </a:xfrm>
        </p:spPr>
        <p:txBody>
          <a:bodyPr>
            <a:normAutofit fontScale="90000"/>
          </a:bodyPr>
          <a:lstStyle/>
          <a:p>
            <a:br>
              <a:rPr lang="en-US"/>
            </a:br>
            <a:br>
              <a:rPr lang="en-US"/>
            </a:br>
            <a:r>
              <a:rPr lang="en-US"/>
              <a:t>Summary </a:t>
            </a:r>
            <a:r>
              <a:rPr lang="en-US" dirty="0"/>
              <a:t>&amp; Key Takeaways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1033670"/>
            <a:ext cx="8368200" cy="2017643"/>
          </a:xfrm>
        </p:spPr>
        <p:txBody>
          <a:bodyPr/>
          <a:lstStyle/>
          <a:p>
            <a:r>
              <a:rPr lang="en-US" dirty="0"/>
              <a:t>• AI-driven collections improve efficiency and fairness</a:t>
            </a:r>
          </a:p>
          <a:p>
            <a:r>
              <a:rPr lang="en-US" dirty="0"/>
              <a:t>• Agentic AI automates low-risk decisions</a:t>
            </a:r>
          </a:p>
          <a:p>
            <a:r>
              <a:rPr lang="en-US" dirty="0"/>
              <a:t>• Human oversight ensures ethical and compliant outcomes</a:t>
            </a:r>
          </a:p>
          <a:p>
            <a:r>
              <a:rPr lang="en-US" dirty="0"/>
              <a:t>• System scales while maintaining customer trust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566</Words>
  <Application>Microsoft Office PowerPoint</Application>
  <PresentationFormat>On-screen Show (16:9)</PresentationFormat>
  <Paragraphs>69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ui-sans-serif</vt:lpstr>
      <vt:lpstr>Roboto Slab</vt:lpstr>
      <vt:lpstr>Roboto</vt:lpstr>
      <vt:lpstr>Arial</vt:lpstr>
      <vt:lpstr>Marina</vt:lpstr>
      <vt:lpstr>AI-Powered Collections Strategy</vt:lpstr>
      <vt:lpstr>How the System Works</vt:lpstr>
      <vt:lpstr>How the System Works</vt:lpstr>
      <vt:lpstr>Role of Agentic AI</vt:lpstr>
      <vt:lpstr>Responsible AI Guardrails</vt:lpstr>
      <vt:lpstr>Expected Business Impact</vt:lpstr>
      <vt:lpstr>  Summary &amp; Key Takeaways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Varshitha</dc:creator>
  <cp:lastModifiedBy>varshitha ruttala</cp:lastModifiedBy>
  <cp:revision>3</cp:revision>
  <dcterms:modified xsi:type="dcterms:W3CDTF">2026-02-01T05:35:03Z</dcterms:modified>
</cp:coreProperties>
</file>